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548640" y="370332"/>
            <a:ext cx="9875520" cy="925830"/>
          </a:xfrm>
          <a:prstGeom prst="roundRect">
            <a:avLst/>
          </a:prstGeom>
          <a:solidFill>
            <a:srgbClr val="13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>
                <a:solidFill>
                  <a:srgbClr val="FFFFFF"/>
                </a:solidFill>
                <a:latin typeface="PingFang SC"/>
              </a:defRPr>
            </a:pPr>
            <a:r>
              <a:t>项目复盘 · 从想法到交付</a:t>
            </a:r>
          </a:p>
        </p:txBody>
      </p:sp>
      <p:sp>
        <p:nvSpPr>
          <p:cNvPr id="3" name="step1"/>
          <p:cNvSpPr/>
          <p:nvPr/>
        </p:nvSpPr>
        <p:spPr>
          <a:xfrm>
            <a:off x="658368" y="1851660"/>
            <a:ext cx="2962656" cy="3209544"/>
          </a:xfrm>
          <a:prstGeom prst="roundRect">
            <a:avLst/>
          </a:prstGeom>
          <a:solidFill>
            <a:srgbClr val="D8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132C4A"/>
                </a:solidFill>
                <a:latin typeface="PingFang SC"/>
              </a:defRPr>
            </a:pPr>
            <a:r>
              <a:t>01  明确目标</a:t>
            </a:r>
          </a:p>
          <a:p>
            <a:pPr>
              <a:defRPr sz="2200">
                <a:solidFill>
                  <a:srgbClr val="132C4A"/>
                </a:solidFill>
                <a:latin typeface="PingFang SC"/>
              </a:defRPr>
            </a:pPr>
            <a:r>
              <a:t>整理需求与验收标准</a:t>
            </a:r>
          </a:p>
        </p:txBody>
      </p:sp>
      <p:sp>
        <p:nvSpPr>
          <p:cNvPr id="4" name="step2"/>
          <p:cNvSpPr/>
          <p:nvPr/>
        </p:nvSpPr>
        <p:spPr>
          <a:xfrm>
            <a:off x="4005072" y="1851660"/>
            <a:ext cx="2962656" cy="3209544"/>
          </a:xfrm>
          <a:prstGeom prst="roundRect">
            <a:avLst/>
          </a:prstGeom>
          <a:solidFill>
            <a:srgbClr val="D1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132C4A"/>
                </a:solidFill>
                <a:latin typeface="PingFang SC"/>
              </a:defRPr>
            </a:pPr>
            <a:r>
              <a:t>02  制作初稿</a:t>
            </a:r>
          </a:p>
          <a:p>
            <a:pPr>
              <a:defRPr sz="2200">
                <a:solidFill>
                  <a:srgbClr val="132C4A"/>
                </a:solidFill>
                <a:latin typeface="PingFang SC"/>
              </a:defRPr>
            </a:pPr>
            <a:r>
              <a:t>完成结构与内容检查</a:t>
            </a:r>
          </a:p>
        </p:txBody>
      </p:sp>
      <p:sp>
        <p:nvSpPr>
          <p:cNvPr id="5" name="step3"/>
          <p:cNvSpPr/>
          <p:nvPr/>
        </p:nvSpPr>
        <p:spPr>
          <a:xfrm>
            <a:off x="7351776" y="1851660"/>
            <a:ext cx="2962656" cy="3209544"/>
          </a:xfrm>
          <a:prstGeom prst="roundRect">
            <a:avLst/>
          </a:prstGeom>
          <a:solidFill>
            <a:srgbClr val="F4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>
                <a:solidFill>
                  <a:srgbClr val="132C4A"/>
                </a:solidFill>
                <a:latin typeface="PingFang SC"/>
              </a:defRPr>
            </a:pPr>
            <a:r>
              <a:t>03  核对交付</a:t>
            </a:r>
          </a:p>
          <a:p>
            <a:pPr>
              <a:defRPr sz="2200">
                <a:solidFill>
                  <a:srgbClr val="132C4A"/>
                </a:solidFill>
                <a:latin typeface="PingFang SC"/>
              </a:defRPr>
            </a:pPr>
            <a:r>
              <a:t>预览修正并保存成品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示例图片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